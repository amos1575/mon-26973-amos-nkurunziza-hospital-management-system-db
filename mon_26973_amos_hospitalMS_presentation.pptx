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9" r:id="rId4"/>
  </p:sldMasterIdLst>
  <p:notesMasterIdLst>
    <p:notesMasterId r:id="rId15"/>
  </p:notesMasterIdLst>
  <p:handoutMasterIdLst>
    <p:handoutMasterId r:id="rId16"/>
  </p:handoutMasterIdLst>
  <p:sldIdLst>
    <p:sldId id="256" r:id="rId5"/>
    <p:sldId id="292" r:id="rId6"/>
    <p:sldId id="266" r:id="rId7"/>
    <p:sldId id="295" r:id="rId8"/>
    <p:sldId id="293" r:id="rId9"/>
    <p:sldId id="283" r:id="rId10"/>
    <p:sldId id="264" r:id="rId11"/>
    <p:sldId id="289" r:id="rId12"/>
    <p:sldId id="28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5359"/>
    <a:srgbClr val="969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9423" autoAdjust="0"/>
  </p:normalViewPr>
  <p:slideViewPr>
    <p:cSldViewPr snapToGrid="0" showGuides="1">
      <p:cViewPr>
        <p:scale>
          <a:sx n="118" d="100"/>
          <a:sy n="118" d="100"/>
        </p:scale>
        <p:origin x="-300" y="-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327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B4C3C3A6-B337-4D83-9CDB-B9C35780FF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1C79A68-3D73-4695-8C1E-3CDBCB536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7C6B7-F63D-48F8-8C65-A57506B0F13B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CF5045C-A7CE-41D4-85C5-0E9ACEEF9B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59ABD0F-F8EA-4B9F-8647-FC7D4AE3D8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B78DD-9481-4863-BCCC-946573546D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0403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09A0FA-2191-4F92-A1E4-6EB4598AC4EC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359F2-43EF-4812-9DC0-98C0B1A406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11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523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850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574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793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704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027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289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0239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8038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670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95617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16222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20489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24459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66762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01270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369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xmlns="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xmlns="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22553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00448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88591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xmlns="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xmlns="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xmlns="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30456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xmlns="" id="{31937252-EACE-4232-855F-5C47E3F8B0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1070901"/>
            <a:ext cx="11265407" cy="1499616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xmlns="" id="{CBA6DBC1-39A1-48A6-8B81-3CD966D06E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8055" y="3103684"/>
            <a:ext cx="11274551" cy="3287971"/>
          </a:xfrm>
          <a:solidFill>
            <a:schemeClr val="accent2"/>
          </a:solidFill>
        </p:spPr>
        <p:txBody>
          <a:bodyPr anchor="t" anchorCtr="0">
            <a:norm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862956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6926BD44-2224-46FF-A4E7-9C9FFE197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79"/>
            <a:ext cx="3657600" cy="2100851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xmlns="" id="{FC87D77D-2EA4-028B-1ACF-E1120CE8F0E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7201" y="2862470"/>
            <a:ext cx="3657600" cy="3510898"/>
          </a:xfrm>
        </p:spPr>
        <p:txBody>
          <a:bodyPr anchor="t" anchorCtr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xmlns="" id="{CCFA45C0-9EBE-13AF-9B5D-9D5F4BF223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42815" y="640080"/>
            <a:ext cx="7491984" cy="5751576"/>
          </a:xfrm>
          <a:custGeom>
            <a:avLst/>
            <a:gdLst>
              <a:gd name="connsiteX0" fmla="*/ 3800341 w 7491984"/>
              <a:gd name="connsiteY0" fmla="*/ 0 h 5751576"/>
              <a:gd name="connsiteX1" fmla="*/ 7491984 w 7491984"/>
              <a:gd name="connsiteY1" fmla="*/ 0 h 5751576"/>
              <a:gd name="connsiteX2" fmla="*/ 7491984 w 7491984"/>
              <a:gd name="connsiteY2" fmla="*/ 5751576 h 5751576"/>
              <a:gd name="connsiteX3" fmla="*/ 3800341 w 7491984"/>
              <a:gd name="connsiteY3" fmla="*/ 5751576 h 5751576"/>
              <a:gd name="connsiteX4" fmla="*/ 0 w 7491984"/>
              <a:gd name="connsiteY4" fmla="*/ 0 h 5751576"/>
              <a:gd name="connsiteX5" fmla="*/ 3696432 w 7491984"/>
              <a:gd name="connsiteY5" fmla="*/ 0 h 5751576"/>
              <a:gd name="connsiteX6" fmla="*/ 3696432 w 7491984"/>
              <a:gd name="connsiteY6" fmla="*/ 5751576 h 5751576"/>
              <a:gd name="connsiteX7" fmla="*/ 0 w 7491984"/>
              <a:gd name="connsiteY7" fmla="*/ 5751576 h 575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1984" h="5751576">
                <a:moveTo>
                  <a:pt x="3800341" y="0"/>
                </a:moveTo>
                <a:lnTo>
                  <a:pt x="7491984" y="0"/>
                </a:lnTo>
                <a:lnTo>
                  <a:pt x="7491984" y="5751576"/>
                </a:lnTo>
                <a:lnTo>
                  <a:pt x="3800341" y="5751576"/>
                </a:lnTo>
                <a:close/>
                <a:moveTo>
                  <a:pt x="0" y="0"/>
                </a:moveTo>
                <a:lnTo>
                  <a:pt x="3696432" y="0"/>
                </a:lnTo>
                <a:lnTo>
                  <a:pt x="3696432" y="5751576"/>
                </a:lnTo>
                <a:lnTo>
                  <a:pt x="0" y="575157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xmlns="" id="{D5DDC5FA-EEDB-898F-533E-4094ADA899B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xmlns="" id="{E79B0359-4B55-D899-E584-A8E6B2ED912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xmlns="" id="{6B916D02-76FE-EAED-CC51-A50448811F7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82289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594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6E787D40-90B5-470E-95A2-784F1CB479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9580" y="4423702"/>
            <a:ext cx="11292839" cy="1550378"/>
          </a:xfrm>
        </p:spPr>
        <p:txBody>
          <a:bodyPr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D528BC27-38F1-47F3-EC35-7DD8B88A75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80" y="705104"/>
            <a:ext cx="11292840" cy="3643376"/>
          </a:xfrm>
          <a:custGeom>
            <a:avLst/>
            <a:gdLst>
              <a:gd name="connsiteX0" fmla="*/ 7593576 w 11292840"/>
              <a:gd name="connsiteY0" fmla="*/ 0 h 3643376"/>
              <a:gd name="connsiteX1" fmla="*/ 11292840 w 11292840"/>
              <a:gd name="connsiteY1" fmla="*/ 0 h 3643376"/>
              <a:gd name="connsiteX2" fmla="*/ 11292840 w 11292840"/>
              <a:gd name="connsiteY2" fmla="*/ 3643376 h 3643376"/>
              <a:gd name="connsiteX3" fmla="*/ 7593576 w 11292840"/>
              <a:gd name="connsiteY3" fmla="*/ 3643376 h 3643376"/>
              <a:gd name="connsiteX4" fmla="*/ 0 w 11292840"/>
              <a:gd name="connsiteY4" fmla="*/ 0 h 3643376"/>
              <a:gd name="connsiteX5" fmla="*/ 7489667 w 11292840"/>
              <a:gd name="connsiteY5" fmla="*/ 0 h 3643376"/>
              <a:gd name="connsiteX6" fmla="*/ 7489667 w 11292840"/>
              <a:gd name="connsiteY6" fmla="*/ 3643376 h 3643376"/>
              <a:gd name="connsiteX7" fmla="*/ 0 w 11292840"/>
              <a:gd name="connsiteY7" fmla="*/ 3643376 h 3643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92840" h="3643376">
                <a:moveTo>
                  <a:pt x="7593576" y="0"/>
                </a:moveTo>
                <a:lnTo>
                  <a:pt x="11292840" y="0"/>
                </a:lnTo>
                <a:lnTo>
                  <a:pt x="11292840" y="3643376"/>
                </a:lnTo>
                <a:lnTo>
                  <a:pt x="7593576" y="3643376"/>
                </a:lnTo>
                <a:close/>
                <a:moveTo>
                  <a:pt x="0" y="0"/>
                </a:moveTo>
                <a:lnTo>
                  <a:pt x="7489667" y="0"/>
                </a:lnTo>
                <a:lnTo>
                  <a:pt x="7489667" y="3643376"/>
                </a:lnTo>
                <a:lnTo>
                  <a:pt x="0" y="364337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8087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2" y="629920"/>
            <a:ext cx="3606800" cy="2809240"/>
          </a:xfrm>
        </p:spPr>
        <p:txBody>
          <a:bodyPr anchor="b">
            <a:no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6881" y="3698240"/>
            <a:ext cx="3606800" cy="2271076"/>
          </a:xfrm>
        </p:spPr>
        <p:txBody>
          <a:bodyPr anchor="t">
            <a:no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2608" y="6423914"/>
            <a:ext cx="105251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454FD2A1-D363-7C44-2A72-54E8B397D3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6720" y="650240"/>
            <a:ext cx="7518398" cy="5713918"/>
          </a:xfrm>
          <a:custGeom>
            <a:avLst/>
            <a:gdLst>
              <a:gd name="connsiteX0" fmla="*/ 3806436 w 7518398"/>
              <a:gd name="connsiteY0" fmla="*/ 4479475 h 5713918"/>
              <a:gd name="connsiteX1" fmla="*/ 7518398 w 7518398"/>
              <a:gd name="connsiteY1" fmla="*/ 4479475 h 5713918"/>
              <a:gd name="connsiteX2" fmla="*/ 7518398 w 7518398"/>
              <a:gd name="connsiteY2" fmla="*/ 5713918 h 5713918"/>
              <a:gd name="connsiteX3" fmla="*/ 3806436 w 7518398"/>
              <a:gd name="connsiteY3" fmla="*/ 5713918 h 5713918"/>
              <a:gd name="connsiteX4" fmla="*/ 0 w 7518398"/>
              <a:gd name="connsiteY4" fmla="*/ 4479475 h 5713918"/>
              <a:gd name="connsiteX5" fmla="*/ 3702527 w 7518398"/>
              <a:gd name="connsiteY5" fmla="*/ 4479475 h 5713918"/>
              <a:gd name="connsiteX6" fmla="*/ 3702527 w 7518398"/>
              <a:gd name="connsiteY6" fmla="*/ 5713918 h 5713918"/>
              <a:gd name="connsiteX7" fmla="*/ 0 w 7518398"/>
              <a:gd name="connsiteY7" fmla="*/ 5713918 h 5713918"/>
              <a:gd name="connsiteX8" fmla="*/ 3806436 w 7518398"/>
              <a:gd name="connsiteY8" fmla="*/ 0 h 5713918"/>
              <a:gd name="connsiteX9" fmla="*/ 7518398 w 7518398"/>
              <a:gd name="connsiteY9" fmla="*/ 0 h 5713918"/>
              <a:gd name="connsiteX10" fmla="*/ 7518398 w 7518398"/>
              <a:gd name="connsiteY10" fmla="*/ 4379183 h 5713918"/>
              <a:gd name="connsiteX11" fmla="*/ 3806436 w 7518398"/>
              <a:gd name="connsiteY11" fmla="*/ 4379183 h 5713918"/>
              <a:gd name="connsiteX12" fmla="*/ 0 w 7518398"/>
              <a:gd name="connsiteY12" fmla="*/ 0 h 5713918"/>
              <a:gd name="connsiteX13" fmla="*/ 3702527 w 7518398"/>
              <a:gd name="connsiteY13" fmla="*/ 0 h 5713918"/>
              <a:gd name="connsiteX14" fmla="*/ 3702527 w 7518398"/>
              <a:gd name="connsiteY14" fmla="*/ 4379183 h 5713918"/>
              <a:gd name="connsiteX15" fmla="*/ 0 w 7518398"/>
              <a:gd name="connsiteY15" fmla="*/ 4379183 h 5713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518398" h="5713918">
                <a:moveTo>
                  <a:pt x="3806436" y="4479475"/>
                </a:moveTo>
                <a:lnTo>
                  <a:pt x="7518398" y="4479475"/>
                </a:lnTo>
                <a:lnTo>
                  <a:pt x="7518398" y="5713918"/>
                </a:lnTo>
                <a:lnTo>
                  <a:pt x="3806436" y="5713918"/>
                </a:lnTo>
                <a:close/>
                <a:moveTo>
                  <a:pt x="0" y="4479475"/>
                </a:moveTo>
                <a:lnTo>
                  <a:pt x="3702527" y="4479475"/>
                </a:lnTo>
                <a:lnTo>
                  <a:pt x="3702527" y="5713918"/>
                </a:lnTo>
                <a:lnTo>
                  <a:pt x="0" y="5713918"/>
                </a:lnTo>
                <a:close/>
                <a:moveTo>
                  <a:pt x="3806436" y="0"/>
                </a:moveTo>
                <a:lnTo>
                  <a:pt x="7518398" y="0"/>
                </a:lnTo>
                <a:lnTo>
                  <a:pt x="7518398" y="4379183"/>
                </a:lnTo>
                <a:lnTo>
                  <a:pt x="3806436" y="4379183"/>
                </a:lnTo>
                <a:close/>
                <a:moveTo>
                  <a:pt x="0" y="0"/>
                </a:moveTo>
                <a:lnTo>
                  <a:pt x="3702527" y="0"/>
                </a:lnTo>
                <a:lnTo>
                  <a:pt x="3702527" y="4379183"/>
                </a:lnTo>
                <a:lnTo>
                  <a:pt x="0" y="437918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8807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F9CC542F-D03C-4537-9B6E-7F653B6515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78091"/>
            <a:ext cx="3729789" cy="3440485"/>
          </a:xfrm>
        </p:spPr>
        <p:txBody>
          <a:bodyPr tIns="182880" bIns="182880" anchor="ctr" anchorCtr="0">
            <a:noAutofit/>
          </a:bodyPr>
          <a:lstStyle/>
          <a:p>
            <a:r>
              <a:rPr lang="en-US" dirty="0"/>
              <a:t>Click to add title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130F1D2B-CBE7-6279-2158-7A9F3B5D5C6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57200" y="670560"/>
            <a:ext cx="11267440" cy="2139696"/>
          </a:xfrm>
          <a:custGeom>
            <a:avLst/>
            <a:gdLst>
              <a:gd name="connsiteX0" fmla="*/ 3783068 w 11267440"/>
              <a:gd name="connsiteY0" fmla="*/ 0 h 2139696"/>
              <a:gd name="connsiteX1" fmla="*/ 11267440 w 11267440"/>
              <a:gd name="connsiteY1" fmla="*/ 0 h 2139696"/>
              <a:gd name="connsiteX2" fmla="*/ 11267440 w 11267440"/>
              <a:gd name="connsiteY2" fmla="*/ 2139696 h 2139696"/>
              <a:gd name="connsiteX3" fmla="*/ 3783068 w 11267440"/>
              <a:gd name="connsiteY3" fmla="*/ 2139696 h 2139696"/>
              <a:gd name="connsiteX4" fmla="*/ 0 w 11267440"/>
              <a:gd name="connsiteY4" fmla="*/ 0 h 2139696"/>
              <a:gd name="connsiteX5" fmla="*/ 3677799 w 11267440"/>
              <a:gd name="connsiteY5" fmla="*/ 0 h 2139696"/>
              <a:gd name="connsiteX6" fmla="*/ 3677799 w 11267440"/>
              <a:gd name="connsiteY6" fmla="*/ 2139696 h 2139696"/>
              <a:gd name="connsiteX7" fmla="*/ 0 w 11267440"/>
              <a:gd name="connsiteY7" fmla="*/ 2139696 h 2139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67440" h="2139696">
                <a:moveTo>
                  <a:pt x="3783068" y="0"/>
                </a:moveTo>
                <a:lnTo>
                  <a:pt x="11267440" y="0"/>
                </a:lnTo>
                <a:lnTo>
                  <a:pt x="11267440" y="2139696"/>
                </a:lnTo>
                <a:lnTo>
                  <a:pt x="3783068" y="2139696"/>
                </a:lnTo>
                <a:close/>
                <a:moveTo>
                  <a:pt x="0" y="0"/>
                </a:moveTo>
                <a:lnTo>
                  <a:pt x="3677799" y="0"/>
                </a:lnTo>
                <a:lnTo>
                  <a:pt x="3677799" y="2139696"/>
                </a:lnTo>
                <a:lnTo>
                  <a:pt x="0" y="213969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xmlns="" id="{135EE74D-5A60-B83C-5C2D-7B6FEA778FC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05827" y="2878091"/>
            <a:ext cx="7418813" cy="3440485"/>
          </a:xfrm>
        </p:spPr>
        <p:txBody>
          <a:bodyPr anchor="ctr" anchorCtr="0">
            <a:normAutofit/>
          </a:bodyPr>
          <a:lstStyle>
            <a:lvl1pPr marL="283464" indent="-283464">
              <a:buFont typeface="Arial" panose="020B0604020202020204" pitchFamily="34" charset="0"/>
              <a:buChar char="•"/>
              <a:defRPr/>
            </a:lvl1pPr>
            <a:lvl2pPr marL="283464" indent="-283464">
              <a:buFont typeface="Arial" panose="020B0604020202020204" pitchFamily="34" charset="0"/>
              <a:buChar char="•"/>
              <a:defRPr/>
            </a:lvl2pPr>
            <a:lvl3pPr marL="283464" indent="-283464">
              <a:buFont typeface="Arial" panose="020B0604020202020204" pitchFamily="34" charset="0"/>
              <a:buChar char="•"/>
              <a:defRPr/>
            </a:lvl3pPr>
            <a:lvl4pPr marL="283464" indent="-283464">
              <a:buFont typeface="Arial" panose="020B0604020202020204" pitchFamily="34" charset="0"/>
              <a:buChar char="•"/>
              <a:defRPr/>
            </a:lvl4pPr>
            <a:lvl5pPr marL="283464" indent="-283464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xmlns="" id="{2BCF1FAD-0BAD-2574-3352-B152DF76C15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xmlns="" id="{EC328E41-645E-D257-FFF3-93344A8E4FA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xmlns="" id="{DEF9E45A-6561-C074-14CE-B3B63476D22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67213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703606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43000"/>
            <a:ext cx="9144000" cy="2585720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99840"/>
            <a:ext cx="9144000" cy="2052320"/>
          </a:xfrm>
        </p:spPr>
        <p:txBody>
          <a:bodyPr anchor="t"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641497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690880"/>
            <a:ext cx="1126744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xmlns="" id="{ECA520B1-DC84-A47D-1F5E-CCD567EB2D8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57200" y="2187362"/>
            <a:ext cx="3657600" cy="3633047"/>
          </a:xfrm>
        </p:spPr>
        <p:txBody>
          <a:bodyPr anchor="t"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914400" indent="-342900">
              <a:buFont typeface="+mj-lt"/>
              <a:buAutoNum type="alphaLcPeriod"/>
              <a:defRPr sz="1800"/>
            </a:lvl2pPr>
            <a:lvl3pPr marL="1371600" indent="-342900">
              <a:buFont typeface="+mj-lt"/>
              <a:buAutoNum type="arabicPeriod"/>
              <a:defRPr sz="1800"/>
            </a:lvl3pPr>
            <a:lvl4pPr marL="1600200" indent="-342900">
              <a:buFont typeface="+mj-lt"/>
              <a:buAutoNum type="alphaLcParenR"/>
              <a:defRPr sz="1800"/>
            </a:lvl4pPr>
            <a:lvl5pPr marL="2057400" indent="-40005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282437" y="2187361"/>
            <a:ext cx="7442203" cy="3633047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0">
              <a:defRPr sz="1800"/>
            </a:lvl2pPr>
            <a:lvl3pPr marL="548640">
              <a:defRPr sz="1800"/>
            </a:lvl3pPr>
            <a:lvl4pPr marL="822960">
              <a:defRPr sz="1800"/>
            </a:lvl4pPr>
            <a:lvl5pPr marL="1097280"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23914"/>
            <a:ext cx="704120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16634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0879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08219" y="741363"/>
            <a:ext cx="5626579" cy="1286219"/>
          </a:xfrm>
        </p:spPr>
        <p:txBody>
          <a:bodyPr anchor="b">
            <a:noAutofit/>
          </a:bodyPr>
          <a:lstStyle>
            <a:lvl1pPr algn="l">
              <a:defRPr sz="2800"/>
            </a:lvl1pPr>
          </a:lstStyle>
          <a:p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xmlns="" id="{FCBE840D-FAED-31D9-AF31-112670D0FA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761684"/>
            <a:ext cx="5171440" cy="5662230"/>
          </a:xfrm>
          <a:custGeom>
            <a:avLst/>
            <a:gdLst>
              <a:gd name="connsiteX0" fmla="*/ 0 w 5171440"/>
              <a:gd name="connsiteY0" fmla="*/ 5056400 h 5662230"/>
              <a:gd name="connsiteX1" fmla="*/ 3685975 w 5171440"/>
              <a:gd name="connsiteY1" fmla="*/ 5056400 h 5662230"/>
              <a:gd name="connsiteX2" fmla="*/ 3685975 w 5171440"/>
              <a:gd name="connsiteY2" fmla="*/ 5662230 h 5662230"/>
              <a:gd name="connsiteX3" fmla="*/ 0 w 5171440"/>
              <a:gd name="connsiteY3" fmla="*/ 5662230 h 5662230"/>
              <a:gd name="connsiteX4" fmla="*/ 3789884 w 5171440"/>
              <a:gd name="connsiteY4" fmla="*/ 0 h 5662230"/>
              <a:gd name="connsiteX5" fmla="*/ 5171440 w 5171440"/>
              <a:gd name="connsiteY5" fmla="*/ 0 h 5662230"/>
              <a:gd name="connsiteX6" fmla="*/ 5171440 w 5171440"/>
              <a:gd name="connsiteY6" fmla="*/ 5662230 h 5662230"/>
              <a:gd name="connsiteX7" fmla="*/ 3789884 w 5171440"/>
              <a:gd name="connsiteY7" fmla="*/ 5662230 h 5662230"/>
              <a:gd name="connsiteX8" fmla="*/ 3789884 w 5171440"/>
              <a:gd name="connsiteY8" fmla="*/ 5056400 h 5662230"/>
              <a:gd name="connsiteX9" fmla="*/ 5168980 w 5171440"/>
              <a:gd name="connsiteY9" fmla="*/ 5056400 h 5662230"/>
              <a:gd name="connsiteX10" fmla="*/ 5168980 w 5171440"/>
              <a:gd name="connsiteY10" fmla="*/ 4956108 h 5662230"/>
              <a:gd name="connsiteX11" fmla="*/ 3789884 w 5171440"/>
              <a:gd name="connsiteY11" fmla="*/ 4956108 h 5662230"/>
              <a:gd name="connsiteX12" fmla="*/ 0 w 5171440"/>
              <a:gd name="connsiteY12" fmla="*/ 0 h 5662230"/>
              <a:gd name="connsiteX13" fmla="*/ 3685975 w 5171440"/>
              <a:gd name="connsiteY13" fmla="*/ 0 h 5662230"/>
              <a:gd name="connsiteX14" fmla="*/ 3685975 w 5171440"/>
              <a:gd name="connsiteY14" fmla="*/ 4956108 h 5662230"/>
              <a:gd name="connsiteX15" fmla="*/ 0 w 5171440"/>
              <a:gd name="connsiteY15" fmla="*/ 4956108 h 5662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71440" h="5662230">
                <a:moveTo>
                  <a:pt x="0" y="5056400"/>
                </a:moveTo>
                <a:lnTo>
                  <a:pt x="3685975" y="5056400"/>
                </a:lnTo>
                <a:lnTo>
                  <a:pt x="3685975" y="5662230"/>
                </a:lnTo>
                <a:lnTo>
                  <a:pt x="0" y="5662230"/>
                </a:lnTo>
                <a:close/>
                <a:moveTo>
                  <a:pt x="3789884" y="0"/>
                </a:moveTo>
                <a:lnTo>
                  <a:pt x="5171440" y="0"/>
                </a:lnTo>
                <a:lnTo>
                  <a:pt x="5171440" y="5662230"/>
                </a:lnTo>
                <a:lnTo>
                  <a:pt x="3789884" y="5662230"/>
                </a:lnTo>
                <a:lnTo>
                  <a:pt x="3789884" y="5056400"/>
                </a:lnTo>
                <a:lnTo>
                  <a:pt x="5168980" y="5056400"/>
                </a:lnTo>
                <a:lnTo>
                  <a:pt x="5168980" y="4956108"/>
                </a:lnTo>
                <a:lnTo>
                  <a:pt x="3789884" y="4956108"/>
                </a:lnTo>
                <a:close/>
                <a:moveTo>
                  <a:pt x="0" y="0"/>
                </a:moveTo>
                <a:lnTo>
                  <a:pt x="3685975" y="0"/>
                </a:lnTo>
                <a:lnTo>
                  <a:pt x="3685975" y="4956108"/>
                </a:lnTo>
                <a:lnTo>
                  <a:pt x="0" y="495610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xmlns="" id="{1E22983C-26B8-DE15-E309-D0E93B8C699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06160" y="2235200"/>
            <a:ext cx="5628639" cy="4188713"/>
          </a:xfrm>
        </p:spPr>
        <p:txBody>
          <a:bodyPr anchor="t" anchorCtr="0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2289" y="6423914"/>
            <a:ext cx="105251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2518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040" y="725444"/>
            <a:ext cx="11277600" cy="1044253"/>
          </a:xfrm>
        </p:spPr>
        <p:txBody>
          <a:bodyPr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45360"/>
            <a:ext cx="3342640" cy="3992880"/>
          </a:xfrm>
        </p:spPr>
        <p:txBody>
          <a:bodyPr anchor="t"/>
          <a:lstStyle>
            <a:lvl1pPr marL="0" indent="0">
              <a:buNone/>
              <a:defRPr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xmlns="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236720" y="2236109"/>
            <a:ext cx="7498080" cy="40021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2290" y="6423914"/>
            <a:ext cx="105251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18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0B1561DF-26A0-6739-95BB-64CDC4C2C6C7}"/>
              </a:ext>
            </a:extLst>
          </p:cNvPr>
          <p:cNvGrpSpPr/>
          <p:nvPr userDrawn="1"/>
        </p:nvGrpSpPr>
        <p:grpSpPr>
          <a:xfrm>
            <a:off x="428696" y="482137"/>
            <a:ext cx="11301155" cy="81191"/>
            <a:chOff x="428696" y="482137"/>
            <a:chExt cx="11301155" cy="8119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0053579F-32D7-9FD1-DC84-FA7E491BF51E}"/>
                </a:ext>
              </a:extLst>
            </p:cNvPr>
            <p:cNvSpPr/>
            <p:nvPr/>
          </p:nvSpPr>
          <p:spPr>
            <a:xfrm flipV="1">
              <a:off x="428696" y="482137"/>
              <a:ext cx="3703321" cy="81191"/>
            </a:xfrm>
            <a:prstGeom prst="rect">
              <a:avLst/>
            </a:prstGeom>
            <a:solidFill>
              <a:schemeClr val="accent3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FDA544AA-CD43-1627-B3BA-3D86AE3F66BA}"/>
                </a:ext>
              </a:extLst>
            </p:cNvPr>
            <p:cNvSpPr/>
            <p:nvPr/>
          </p:nvSpPr>
          <p:spPr>
            <a:xfrm flipV="1">
              <a:off x="4235926" y="482137"/>
              <a:ext cx="3703321" cy="81191"/>
            </a:xfrm>
            <a:prstGeom prst="rect">
              <a:avLst/>
            </a:prstGeom>
            <a:solidFill>
              <a:schemeClr val="accent1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38B9861A-053E-6F37-B96F-66C27B486406}"/>
                </a:ext>
              </a:extLst>
            </p:cNvPr>
            <p:cNvSpPr/>
            <p:nvPr/>
          </p:nvSpPr>
          <p:spPr>
            <a:xfrm flipV="1">
              <a:off x="8026530" y="482137"/>
              <a:ext cx="3703321" cy="81191"/>
            </a:xfrm>
            <a:prstGeom prst="rect">
              <a:avLst/>
            </a:prstGeom>
            <a:solidFill>
              <a:schemeClr val="accent4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41671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  <p:sldLayoutId id="2147483812" r:id="rId13"/>
    <p:sldLayoutId id="2147483813" r:id="rId14"/>
    <p:sldLayoutId id="2147483814" r:id="rId15"/>
    <p:sldLayoutId id="2147483815" r:id="rId16"/>
    <p:sldLayoutId id="2147483816" r:id="rId17"/>
    <p:sldLayoutId id="2147483817" r:id="rId18"/>
    <p:sldLayoutId id="2147483818" r:id="rId19"/>
    <p:sldLayoutId id="2147483819" r:id="rId20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479F0267-9D1C-BDA9-A152-B01CD379F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9865" y="631180"/>
            <a:ext cx="11749636" cy="3058788"/>
          </a:xfrm>
        </p:spPr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b="1" dirty="0"/>
              <a:t>              </a:t>
            </a:r>
            <a:r>
              <a:rPr lang="en-US" b="1" dirty="0" smtClean="0">
                <a:solidFill>
                  <a:srgbClr val="0070C0"/>
                </a:solidFill>
              </a:rPr>
              <a:t>Title </a:t>
            </a:r>
            <a:r>
              <a:rPr lang="en-US" b="1" dirty="0">
                <a:solidFill>
                  <a:srgbClr val="0070C0"/>
                </a:solidFill>
              </a:rPr>
              <a:t>: </a:t>
            </a:r>
            <a:r>
              <a:rPr lang="en-US" b="1" dirty="0" smtClean="0">
                <a:solidFill>
                  <a:srgbClr val="0070C0"/>
                </a:solidFill>
              </a:rPr>
              <a:t>Hospital </a:t>
            </a:r>
            <a:r>
              <a:rPr lang="en-US" b="1" dirty="0">
                <a:solidFill>
                  <a:srgbClr val="0070C0"/>
                </a:solidFill>
              </a:rPr>
              <a:t>Management </a:t>
            </a:r>
            <a:r>
              <a:rPr lang="en-US" b="1" dirty="0" smtClean="0">
                <a:solidFill>
                  <a:srgbClr val="0070C0"/>
                </a:solidFill>
              </a:rPr>
              <a:t>System</a:t>
            </a:r>
            <a:r>
              <a:rPr lang="en-US" b="1" dirty="0"/>
              <a:t/>
            </a:r>
            <a:br>
              <a:rPr lang="en-US" b="1" dirty="0"/>
            </a:br>
            <a:r>
              <a:rPr lang="en-US" sz="2000" b="1" dirty="0" smtClean="0"/>
              <a:t>                                   </a:t>
            </a:r>
            <a:r>
              <a:rPr lang="en-US" sz="2000" b="1" dirty="0" smtClean="0">
                <a:solidFill>
                  <a:srgbClr val="002060"/>
                </a:solidFill>
              </a:rPr>
              <a:t>Subtitle</a:t>
            </a:r>
            <a:r>
              <a:rPr lang="en-US" sz="2000" b="1" dirty="0">
                <a:solidFill>
                  <a:srgbClr val="002060"/>
                </a:solidFill>
              </a:rPr>
              <a:t>: PL/SQL Capstone Project</a:t>
            </a:r>
            <a:br>
              <a:rPr lang="en-US" sz="2000" b="1" dirty="0">
                <a:solidFill>
                  <a:srgbClr val="002060"/>
                </a:solidFill>
              </a:rPr>
            </a:br>
            <a:r>
              <a:rPr lang="en-US" sz="2000" b="1" dirty="0" smtClean="0">
                <a:solidFill>
                  <a:srgbClr val="002060"/>
                </a:solidFill>
              </a:rPr>
              <a:t>                                           Name</a:t>
            </a:r>
            <a:r>
              <a:rPr lang="en-US" sz="2000" b="1" dirty="0">
                <a:solidFill>
                  <a:srgbClr val="002060"/>
                </a:solidFill>
              </a:rPr>
              <a:t>: Amos Nkurunziza</a:t>
            </a:r>
            <a:br>
              <a:rPr lang="en-US" sz="2000" b="1" dirty="0">
                <a:solidFill>
                  <a:srgbClr val="002060"/>
                </a:solidFill>
              </a:rPr>
            </a:br>
            <a:r>
              <a:rPr lang="en-US" sz="2000" b="1" dirty="0" smtClean="0">
                <a:solidFill>
                  <a:srgbClr val="002060"/>
                </a:solidFill>
              </a:rPr>
              <a:t>                                               Student </a:t>
            </a:r>
            <a:r>
              <a:rPr lang="en-US" sz="2000" b="1" dirty="0">
                <a:solidFill>
                  <a:srgbClr val="002060"/>
                </a:solidFill>
              </a:rPr>
              <a:t>ID: 26973</a:t>
            </a:r>
            <a:br>
              <a:rPr lang="en-US" sz="2000" b="1" dirty="0">
                <a:solidFill>
                  <a:srgbClr val="002060"/>
                </a:solidFill>
              </a:rPr>
            </a:br>
            <a:r>
              <a:rPr lang="en-US" sz="2000" b="1" dirty="0" smtClean="0">
                <a:solidFill>
                  <a:srgbClr val="002060"/>
                </a:solidFill>
              </a:rPr>
              <a:t>                                          Date</a:t>
            </a:r>
            <a:r>
              <a:rPr lang="en-US" sz="2000" b="1" dirty="0">
                <a:solidFill>
                  <a:srgbClr val="002060"/>
                </a:solidFill>
              </a:rPr>
              <a:t>: December 7, 2025</a:t>
            </a:r>
            <a:br>
              <a:rPr lang="en-US" sz="2000" b="1" dirty="0">
                <a:solidFill>
                  <a:srgbClr val="002060"/>
                </a:solidFill>
              </a:rPr>
            </a:br>
            <a:r>
              <a:rPr lang="en-US" sz="2000" b="1" dirty="0" smtClean="0">
                <a:solidFill>
                  <a:srgbClr val="002060"/>
                </a:solidFill>
              </a:rPr>
              <a:t>          Institution</a:t>
            </a:r>
            <a:r>
              <a:rPr lang="en-US" sz="2000" b="1" dirty="0">
                <a:solidFill>
                  <a:srgbClr val="002060"/>
                </a:solidFill>
              </a:rPr>
              <a:t>: Adventist University of Central Africa (AUCA)</a:t>
            </a:r>
            <a:br>
              <a:rPr lang="en-US" sz="2000" b="1" dirty="0">
                <a:solidFill>
                  <a:srgbClr val="002060"/>
                </a:solidFill>
              </a:rPr>
            </a:br>
            <a:r>
              <a:rPr lang="en-US" sz="2000" b="1" dirty="0" smtClean="0">
                <a:solidFill>
                  <a:srgbClr val="002060"/>
                </a:solidFill>
              </a:rPr>
              <a:t>               Course</a:t>
            </a:r>
            <a:r>
              <a:rPr lang="en-US" sz="2000" b="1" dirty="0">
                <a:solidFill>
                  <a:srgbClr val="002060"/>
                </a:solidFill>
              </a:rPr>
              <a:t>: Database Development with PL/SQL (INSY 8311)</a:t>
            </a:r>
            <a:br>
              <a:rPr lang="en-US" sz="2000" b="1" dirty="0">
                <a:solidFill>
                  <a:srgbClr val="002060"/>
                </a:solidFill>
              </a:rPr>
            </a:br>
            <a:r>
              <a:rPr lang="en-US" sz="2000" b="1" dirty="0" smtClean="0">
                <a:solidFill>
                  <a:srgbClr val="002060"/>
                </a:solidFill>
              </a:rPr>
              <a:t>                                    lecturer: MANIRAGUHA Eric</a:t>
            </a:r>
            <a:br>
              <a:rPr lang="en-US" sz="2000" b="1" dirty="0" smtClean="0">
                <a:solidFill>
                  <a:srgbClr val="002060"/>
                </a:solidFill>
              </a:rPr>
            </a:br>
            <a:endParaRPr lang="en-US" sz="2000" b="1" dirty="0">
              <a:solidFill>
                <a:srgbClr val="002060"/>
              </a:solidFill>
            </a:endParaRPr>
          </a:p>
        </p:txBody>
      </p:sp>
      <p:pic>
        <p:nvPicPr>
          <p:cNvPr id="10" name="Picture Placeholder 9" descr="A stethoscope on a clipboard">
            <a:extLst>
              <a:ext uri="{FF2B5EF4-FFF2-40B4-BE49-F238E27FC236}">
                <a16:creationId xmlns:a16="http://schemas.microsoft.com/office/drawing/2014/main" xmlns="" id="{CC4B82FA-2EA0-5319-6B9C-8D78349FCB0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t="28164" b="28164"/>
          <a:stretch/>
        </p:blipFill>
        <p:spPr>
          <a:xfrm>
            <a:off x="412695" y="3706152"/>
            <a:ext cx="11336940" cy="2685503"/>
          </a:xfrm>
        </p:spPr>
      </p:pic>
    </p:spTree>
    <p:extLst>
      <p:ext uri="{BB962C8B-B14F-4D97-AF65-F5344CB8AC3E}">
        <p14:creationId xmlns:p14="http://schemas.microsoft.com/office/powerpoint/2010/main" val="103975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xmlns="" id="{FB23E1E4-7CB2-923B-9D41-672CB85E0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338" y="640080"/>
            <a:ext cx="4272596" cy="954052"/>
          </a:xfrm>
        </p:spPr>
        <p:txBody>
          <a:bodyPr/>
          <a:lstStyle/>
          <a:p>
            <a:r>
              <a:rPr lang="en-US" sz="2000" b="1" dirty="0" smtClean="0">
                <a:solidFill>
                  <a:srgbClr val="00B050"/>
                </a:solidFill>
              </a:rPr>
              <a:t>Problem Statements            </a:t>
            </a:r>
            <a:r>
              <a:rPr lang="en-US" dirty="0"/>
              <a:t>	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1A667A9A-3428-68BE-D555-0DE1859FD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23681" y="1246174"/>
            <a:ext cx="5712977" cy="5284100"/>
          </a:xfrm>
        </p:spPr>
        <p:txBody>
          <a:bodyPr>
            <a:normAutofit fontScale="92500" lnSpcReduction="10000"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Issue: </a:t>
            </a:r>
          </a:p>
          <a:p>
            <a:r>
              <a:rPr lang="en-US" sz="1400" dirty="0"/>
              <a:t>- Healthcare facilities struggle with inefficient patient management</a:t>
            </a:r>
          </a:p>
          <a:p>
            <a:r>
              <a:rPr lang="en-US" sz="1400" dirty="0"/>
              <a:t>- Manual record-keeping leads to errors and delays</a:t>
            </a:r>
          </a:p>
          <a:p>
            <a:r>
              <a:rPr lang="en-US" sz="1400" dirty="0"/>
              <a:t>- No systematic appointment </a:t>
            </a:r>
            <a:r>
              <a:rPr lang="en-US" sz="1400" dirty="0" smtClean="0"/>
              <a:t>scheduling</a:t>
            </a:r>
          </a:p>
          <a:p>
            <a:r>
              <a:rPr lang="en-US" sz="1400" dirty="0" smtClean="0"/>
              <a:t>  - Lack of data analytics for decision-making</a:t>
            </a:r>
            <a:br>
              <a:rPr lang="en-US" sz="1400" dirty="0" smtClean="0"/>
            </a:br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n-US" sz="1400" b="1" dirty="0" smtClean="0">
                <a:solidFill>
                  <a:srgbClr val="FF0000"/>
                </a:solidFill>
              </a:rPr>
              <a:t>Context:</a:t>
            </a:r>
          </a:p>
          <a:p>
            <a:r>
              <a:rPr lang="en-US" sz="1400" dirty="0" smtClean="0"/>
              <a:t>- </a:t>
            </a:r>
            <a:r>
              <a:rPr lang="en-US" sz="1400" dirty="0"/>
              <a:t>Used in outpatient departments of hospitals/clinics</a:t>
            </a:r>
          </a:p>
          <a:p>
            <a:r>
              <a:rPr lang="en-US" sz="1400" dirty="0"/>
              <a:t>- Manages patient registrations, doctor appointments, medical records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Target Users:</a:t>
            </a:r>
          </a:p>
          <a:p>
            <a:r>
              <a:rPr lang="en-US" sz="1400" dirty="0"/>
              <a:t>- Receptionists (patient registration)</a:t>
            </a:r>
          </a:p>
          <a:p>
            <a:r>
              <a:rPr lang="en-US" sz="1400" dirty="0"/>
              <a:t>- Doctors (medical records, appointments)</a:t>
            </a:r>
          </a:p>
          <a:p>
            <a:r>
              <a:rPr lang="en-US" sz="1400" dirty="0"/>
              <a:t>- Administrators (reports, analytics)</a:t>
            </a:r>
            <a:br>
              <a:rPr lang="en-US" sz="1400" dirty="0"/>
            </a:br>
            <a:r>
              <a:rPr lang="en-US" sz="1400" b="1" dirty="0">
                <a:solidFill>
                  <a:srgbClr val="FF0000"/>
                </a:solidFill>
              </a:rPr>
              <a:t>Expected Outcomes:</a:t>
            </a:r>
          </a:p>
          <a:p>
            <a:r>
              <a:rPr lang="en-US" sz="1400" dirty="0"/>
              <a:t>- Streamlined patient flow</a:t>
            </a:r>
          </a:p>
          <a:p>
            <a:r>
              <a:rPr lang="en-US" sz="1400" dirty="0"/>
              <a:t>- Reduced paperwork</a:t>
            </a:r>
          </a:p>
          <a:p>
            <a:r>
              <a:rPr lang="en-US" sz="1400" dirty="0"/>
              <a:t>- Better data accuracy</a:t>
            </a:r>
          </a:p>
          <a:p>
            <a:r>
              <a:rPr lang="en-US" sz="1400" dirty="0"/>
              <a:t>- Enhanced decision-making through analytics</a:t>
            </a:r>
          </a:p>
          <a:p>
            <a:endParaRPr lang="en-US" sz="1400" dirty="0"/>
          </a:p>
        </p:txBody>
      </p:sp>
      <p:pic>
        <p:nvPicPr>
          <p:cNvPr id="34" name="Picture Placeholder 21" descr="A close-up of a stethoscope">
            <a:extLst>
              <a:ext uri="{FF2B5EF4-FFF2-40B4-BE49-F238E27FC236}">
                <a16:creationId xmlns:a16="http://schemas.microsoft.com/office/drawing/2014/main" xmlns="" id="{63F55FD3-B051-BD22-347E-065B72C87E1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48" r="148"/>
          <a:stretch/>
        </p:blipFill>
        <p:spPr>
          <a:xfrm>
            <a:off x="6042843" y="679731"/>
            <a:ext cx="5691955" cy="5858634"/>
          </a:xfrm>
        </p:spPr>
      </p:pic>
      <p:sp>
        <p:nvSpPr>
          <p:cNvPr id="2" name="AutoShape 2" descr="5 Problem Statement Examples &amp; How to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25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           </a:t>
            </a:r>
            <a:r>
              <a:rPr lang="en-US" sz="3200" b="1" dirty="0" smtClean="0">
                <a:solidFill>
                  <a:srgbClr val="00B050"/>
                </a:solidFill>
              </a:rPr>
              <a:t>SOLUTION OVERVIEW</a:t>
            </a:r>
            <a:endParaRPr lang="en-US" sz="3200" b="1" dirty="0">
              <a:solidFill>
                <a:srgbClr val="00B05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23448" y="2993617"/>
            <a:ext cx="3325826" cy="263034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Scope</a:t>
            </a:r>
            <a:r>
              <a:rPr lang="en-US" b="1" dirty="0" smtClean="0">
                <a:solidFill>
                  <a:srgbClr val="002060"/>
                </a:solidFill>
              </a:rPr>
              <a:t>:</a:t>
            </a:r>
            <a:br>
              <a:rPr lang="en-US" b="1" dirty="0" smtClean="0">
                <a:solidFill>
                  <a:srgbClr val="002060"/>
                </a:solidFill>
              </a:rPr>
            </a:br>
            <a:endParaRPr lang="en-US" b="1" dirty="0">
              <a:solidFill>
                <a:srgbClr val="002060"/>
              </a:solidFill>
            </a:endParaRPr>
          </a:p>
          <a:p>
            <a:pPr algn="ctr"/>
            <a:r>
              <a:rPr lang="en-US" i="1" dirty="0"/>
              <a:t>- Patient management module</a:t>
            </a:r>
          </a:p>
          <a:p>
            <a:pPr algn="ctr"/>
            <a:r>
              <a:rPr lang="en-US" i="1" dirty="0"/>
              <a:t>- Doctor/departments module</a:t>
            </a:r>
          </a:p>
          <a:p>
            <a:pPr algn="ctr"/>
            <a:r>
              <a:rPr lang="en-US" i="1" dirty="0"/>
              <a:t>- Appointment scheduling </a:t>
            </a:r>
            <a:r>
              <a:rPr lang="en-US" i="1" dirty="0" smtClean="0"/>
              <a:t>system</a:t>
            </a:r>
          </a:p>
          <a:p>
            <a:pPr algn="ctr"/>
            <a:r>
              <a:rPr lang="en-US" i="1" dirty="0" smtClean="0"/>
              <a:t>- Medical records and prescriptions</a:t>
            </a:r>
          </a:p>
          <a:p>
            <a:pPr algn="ctr"/>
            <a:r>
              <a:rPr lang="en-US" i="1" dirty="0" smtClean="0"/>
              <a:t>- </a:t>
            </a:r>
            <a:r>
              <a:rPr lang="en-US" i="1" dirty="0"/>
              <a:t>Audit and compliance tracking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12694" y="2993617"/>
            <a:ext cx="3592863" cy="263034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Objectives: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i="1" dirty="0">
                <a:solidFill>
                  <a:schemeClr val="bg1"/>
                </a:solidFill>
              </a:rPr>
              <a:t>- Design normalized database for hospital operations</a:t>
            </a:r>
          </a:p>
          <a:p>
            <a:pPr algn="ctr"/>
            <a:r>
              <a:rPr lang="en-US" i="1" dirty="0">
                <a:solidFill>
                  <a:schemeClr val="bg1"/>
                </a:solidFill>
              </a:rPr>
              <a:t>- Implement business rules with PL/SQL</a:t>
            </a:r>
          </a:p>
          <a:p>
            <a:pPr algn="ctr"/>
            <a:r>
              <a:rPr lang="en-US" i="1" dirty="0">
                <a:solidFill>
                  <a:schemeClr val="bg1"/>
                </a:solidFill>
              </a:rPr>
              <a:t>- Create automated audit system</a:t>
            </a:r>
          </a:p>
          <a:p>
            <a:pPr algn="ctr"/>
            <a:r>
              <a:rPr lang="en-US" i="1" dirty="0">
                <a:solidFill>
                  <a:schemeClr val="bg1"/>
                </a:solidFill>
              </a:rPr>
              <a:t>- Enable advanced analytics </a:t>
            </a:r>
            <a:r>
              <a:rPr lang="en-US" i="1" dirty="0" smtClean="0">
                <a:solidFill>
                  <a:schemeClr val="bg1"/>
                </a:solidFill>
              </a:rPr>
              <a:t>capabilities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61968" y="2993617"/>
            <a:ext cx="3309643" cy="263034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Key Features</a:t>
            </a:r>
            <a:r>
              <a:rPr lang="en-US" b="1" dirty="0" smtClean="0">
                <a:solidFill>
                  <a:srgbClr val="002060"/>
                </a:solidFill>
              </a:rPr>
              <a:t>:</a:t>
            </a:r>
            <a:br>
              <a:rPr lang="en-US" b="1" dirty="0" smtClean="0">
                <a:solidFill>
                  <a:srgbClr val="002060"/>
                </a:solidFill>
              </a:rPr>
            </a:br>
            <a:endParaRPr lang="en-US" b="1" dirty="0">
              <a:solidFill>
                <a:srgbClr val="002060"/>
              </a:solidFill>
            </a:endParaRPr>
          </a:p>
          <a:p>
            <a:pPr algn="ctr"/>
            <a:r>
              <a:rPr lang="en-US" i="1" dirty="0"/>
              <a:t>- Weekend/holiday data modification restrictions</a:t>
            </a:r>
          </a:p>
          <a:p>
            <a:pPr algn="ctr"/>
            <a:r>
              <a:rPr lang="en-US" i="1" dirty="0"/>
              <a:t>- Comprehensive audit logging</a:t>
            </a:r>
          </a:p>
          <a:p>
            <a:pPr algn="ctr"/>
            <a:r>
              <a:rPr lang="en-US" i="1" dirty="0"/>
              <a:t>- Window function analytics</a:t>
            </a:r>
          </a:p>
          <a:p>
            <a:pPr algn="ctr"/>
            <a:r>
              <a:rPr lang="en-US" i="1" dirty="0"/>
              <a:t>- Business intelligence dashboards</a:t>
            </a:r>
          </a:p>
        </p:txBody>
      </p:sp>
    </p:spTree>
    <p:extLst>
      <p:ext uri="{BB962C8B-B14F-4D97-AF65-F5344CB8AC3E}">
        <p14:creationId xmlns:p14="http://schemas.microsoft.com/office/powerpoint/2010/main" val="1721841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1866CF7-69F4-F432-4747-28EF15528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614" y="690881"/>
            <a:ext cx="11231026" cy="692858"/>
          </a:xfrm>
        </p:spPr>
        <p:txBody>
          <a:bodyPr/>
          <a:lstStyle/>
          <a:p>
            <a:r>
              <a:rPr lang="en-US" dirty="0" smtClean="0"/>
              <a:t>                                     </a:t>
            </a:r>
            <a:r>
              <a:rPr lang="en-US" b="1" dirty="0" smtClean="0">
                <a:solidFill>
                  <a:srgbClr val="00B050"/>
                </a:solidFill>
              </a:rPr>
              <a:t>DATABASE </a:t>
            </a:r>
            <a:r>
              <a:rPr lang="en-US" b="1" dirty="0">
                <a:solidFill>
                  <a:srgbClr val="00B050"/>
                </a:solidFill>
              </a:rPr>
              <a:t>DESIGN</a:t>
            </a:r>
            <a:endParaRPr lang="en-US" b="1" dirty="0">
              <a:solidFill>
                <a:srgbClr val="00B050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" y="2225310"/>
            <a:ext cx="4986885" cy="3324590"/>
          </a:xfr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4082E89-DB15-6D26-7098-DA9792B0B0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80609" y="2071561"/>
            <a:ext cx="6044031" cy="3748847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Entities:</a:t>
            </a:r>
          </a:p>
          <a:p>
            <a:r>
              <a:rPr lang="en-US" dirty="0"/>
              <a:t>- Departments (10 records)</a:t>
            </a:r>
          </a:p>
          <a:p>
            <a:r>
              <a:rPr lang="en-US" dirty="0"/>
              <a:t>- Doctors (15 records)</a:t>
            </a:r>
          </a:p>
          <a:p>
            <a:r>
              <a:rPr lang="en-US" dirty="0"/>
              <a:t>- Patients (100+ records)</a:t>
            </a:r>
          </a:p>
          <a:p>
            <a:r>
              <a:rPr lang="en-US" dirty="0"/>
              <a:t>- Appointments (100+ records)</a:t>
            </a:r>
          </a:p>
          <a:p>
            <a:r>
              <a:rPr lang="en-US" dirty="0"/>
              <a:t>- Medical Records (100+ records)</a:t>
            </a:r>
          </a:p>
          <a:p>
            <a:r>
              <a:rPr lang="en-US" dirty="0"/>
              <a:t>- Prescriptions (100+ records)</a:t>
            </a:r>
          </a:p>
          <a:p>
            <a:r>
              <a:rPr lang="en-US" dirty="0"/>
              <a:t>- Medications (5 records)</a:t>
            </a:r>
          </a:p>
          <a:p>
            <a:r>
              <a:rPr lang="en-US" dirty="0"/>
              <a:t>- Public Holidays (4 records)</a:t>
            </a:r>
          </a:p>
          <a:p>
            <a:r>
              <a:rPr lang="en-US" dirty="0"/>
              <a:t>- Audit Logs (dynamic)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Normalization: </a:t>
            </a:r>
            <a:r>
              <a:rPr lang="en-US" dirty="0"/>
              <a:t>3NF achieved</a:t>
            </a:r>
          </a:p>
          <a:p>
            <a:r>
              <a:rPr lang="en-US" b="1" dirty="0">
                <a:solidFill>
                  <a:srgbClr val="FF0000"/>
                </a:solidFill>
              </a:rPr>
              <a:t>Primary Keys: </a:t>
            </a:r>
            <a:r>
              <a:rPr lang="en-US" dirty="0"/>
              <a:t>All tables have unique identifiers</a:t>
            </a:r>
          </a:p>
          <a:p>
            <a:r>
              <a:rPr lang="en-US" b="1" dirty="0">
                <a:solidFill>
                  <a:srgbClr val="FF0000"/>
                </a:solidFill>
              </a:rPr>
              <a:t>Foreign Keys: </a:t>
            </a:r>
            <a:r>
              <a:rPr lang="en-US" dirty="0"/>
              <a:t>Enforced referential integrity</a:t>
            </a:r>
          </a:p>
          <a:p>
            <a:r>
              <a:rPr lang="en-US" b="1" dirty="0">
                <a:solidFill>
                  <a:srgbClr val="FF0000"/>
                </a:solidFill>
              </a:rPr>
              <a:t>Constraints: </a:t>
            </a:r>
            <a:r>
              <a:rPr lang="en-US" dirty="0"/>
              <a:t>NOT NULL, UNIQUE, CHECK constraints applied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306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E618A4-5020-A570-BAAC-71C22849B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430" y="690879"/>
            <a:ext cx="11247210" cy="587663"/>
          </a:xfrm>
        </p:spPr>
        <p:txBody>
          <a:bodyPr>
            <a:normAutofit/>
          </a:bodyPr>
          <a:lstStyle/>
          <a:p>
            <a:r>
              <a:rPr lang="en-US" dirty="0" smtClean="0"/>
              <a:t>                     </a:t>
            </a:r>
            <a:r>
              <a:rPr lang="en-US" b="1" dirty="0" smtClean="0">
                <a:solidFill>
                  <a:srgbClr val="00B050"/>
                </a:solidFill>
              </a:rPr>
              <a:t>BUSINESS </a:t>
            </a:r>
            <a:r>
              <a:rPr lang="en-US" b="1" dirty="0">
                <a:solidFill>
                  <a:srgbClr val="00B050"/>
                </a:solidFill>
              </a:rPr>
              <a:t>PROCESS WORKFLOW</a:t>
            </a:r>
            <a:endParaRPr lang="en-US" b="1" dirty="0">
              <a:solidFill>
                <a:srgbClr val="00B05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" y="1529394"/>
            <a:ext cx="4859267" cy="4606103"/>
          </a:xfr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xmlns="" id="{C9475E86-FFB0-87BC-084C-C728916152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62124" y="1602223"/>
            <a:ext cx="6262516" cy="4218185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Workflow:</a:t>
            </a:r>
          </a:p>
          <a:p>
            <a:r>
              <a:rPr lang="en-US" dirty="0"/>
              <a:t>1. Patient Registration → 2. Department Assignment → 3. Doctor Selection → 4. Appointment Scheduling → 5. Medical Consultation → 6. Record Update → 7. Prescription Generation → 8. Follow-up Scheduling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Actors:</a:t>
            </a:r>
          </a:p>
          <a:p>
            <a:r>
              <a:rPr lang="en-US" dirty="0">
                <a:solidFill>
                  <a:srgbClr val="002060"/>
                </a:solidFill>
              </a:rPr>
              <a:t>- Receptionist: </a:t>
            </a:r>
            <a:r>
              <a:rPr lang="en-US" dirty="0"/>
              <a:t>Registers patients</a:t>
            </a:r>
          </a:p>
          <a:p>
            <a:r>
              <a:rPr lang="en-US" dirty="0">
                <a:solidFill>
                  <a:srgbClr val="002060"/>
                </a:solidFill>
              </a:rPr>
              <a:t>- Nurse: </a:t>
            </a:r>
            <a:r>
              <a:rPr lang="en-US" dirty="0"/>
              <a:t>Prepares patient</a:t>
            </a:r>
          </a:p>
          <a:p>
            <a:r>
              <a:rPr lang="en-US" dirty="0">
                <a:solidFill>
                  <a:srgbClr val="002060"/>
                </a:solidFill>
              </a:rPr>
              <a:t>- Doctor: </a:t>
            </a:r>
            <a:r>
              <a:rPr lang="en-US" dirty="0"/>
              <a:t>Consults, updates records</a:t>
            </a:r>
          </a:p>
          <a:p>
            <a:r>
              <a:rPr lang="en-US" dirty="0">
                <a:solidFill>
                  <a:srgbClr val="002060"/>
                </a:solidFill>
              </a:rPr>
              <a:t>- Pharmacist: </a:t>
            </a:r>
            <a:r>
              <a:rPr lang="en-US" dirty="0"/>
              <a:t>Processes prescriptions</a:t>
            </a:r>
          </a:p>
          <a:p>
            <a:r>
              <a:rPr lang="en-US" dirty="0">
                <a:solidFill>
                  <a:srgbClr val="002060"/>
                </a:solidFill>
              </a:rPr>
              <a:t>- Administrator: </a:t>
            </a:r>
            <a:r>
              <a:rPr lang="en-US" dirty="0"/>
              <a:t>Reviews analytics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Key Handoffs:</a:t>
            </a:r>
          </a:p>
          <a:p>
            <a:r>
              <a:rPr lang="en-US" dirty="0"/>
              <a:t>- Patient ↔ Receptionist</a:t>
            </a:r>
          </a:p>
          <a:p>
            <a:r>
              <a:rPr lang="en-US" dirty="0"/>
              <a:t>- Patient ↔ Nurse</a:t>
            </a:r>
          </a:p>
          <a:p>
            <a:r>
              <a:rPr lang="en-US" dirty="0"/>
              <a:t>- Patient ↔ Doctor</a:t>
            </a:r>
          </a:p>
          <a:p>
            <a:r>
              <a:rPr lang="en-US" dirty="0"/>
              <a:t>- Doctor ↔ Pharmacist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820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627" y="729658"/>
            <a:ext cx="11028182" cy="629804"/>
          </a:xfrm>
        </p:spPr>
        <p:txBody>
          <a:bodyPr/>
          <a:lstStyle/>
          <a:p>
            <a:r>
              <a:rPr lang="en-US" dirty="0" smtClean="0"/>
              <a:t>                             </a:t>
            </a:r>
            <a:r>
              <a:rPr lang="en-US" b="1" dirty="0" smtClean="0">
                <a:solidFill>
                  <a:srgbClr val="00B050"/>
                </a:solidFill>
              </a:rPr>
              <a:t>TECHNICAL </a:t>
            </a:r>
            <a:r>
              <a:rPr lang="en-US" b="1" dirty="0">
                <a:solidFill>
                  <a:srgbClr val="00B050"/>
                </a:solidFill>
              </a:rP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691235"/>
            <a:ext cx="5194767" cy="4169815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         </a:t>
            </a:r>
            <a:r>
              <a:rPr lang="en-US" b="1" dirty="0" smtClean="0">
                <a:solidFill>
                  <a:srgbClr val="FF0000"/>
                </a:solidFill>
              </a:rPr>
              <a:t>Technology </a:t>
            </a:r>
            <a:r>
              <a:rPr lang="en-US" b="1" dirty="0">
                <a:solidFill>
                  <a:srgbClr val="FF0000"/>
                </a:solidFill>
              </a:rPr>
              <a:t>Stack:</a:t>
            </a:r>
          </a:p>
          <a:p>
            <a:r>
              <a:rPr lang="en-US" dirty="0"/>
              <a:t>- Oracle Database 21c XE</a:t>
            </a:r>
          </a:p>
          <a:p>
            <a:r>
              <a:rPr lang="en-US" dirty="0"/>
              <a:t>- PL/SQL Packages and Procedures</a:t>
            </a:r>
          </a:p>
          <a:p>
            <a:r>
              <a:rPr lang="en-US" dirty="0"/>
              <a:t>- Triggers and Sequences</a:t>
            </a:r>
          </a:p>
          <a:p>
            <a:r>
              <a:rPr lang="en-US" dirty="0"/>
              <a:t>- SQL Developer for </a:t>
            </a:r>
            <a:r>
              <a:rPr lang="en-US" dirty="0" smtClean="0"/>
              <a:t>modeling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b="1" dirty="0" smtClean="0">
                <a:solidFill>
                  <a:srgbClr val="FF0000"/>
                </a:solidFill>
              </a:rPr>
              <a:t>     Data </a:t>
            </a:r>
            <a:r>
              <a:rPr lang="en-US" b="1" dirty="0">
                <a:solidFill>
                  <a:srgbClr val="FF0000"/>
                </a:solidFill>
              </a:rPr>
              <a:t>Volume:</a:t>
            </a:r>
          </a:p>
          <a:p>
            <a:r>
              <a:rPr lang="en-US" dirty="0"/>
              <a:t>- 100-500+ rows per main table</a:t>
            </a:r>
          </a:p>
          <a:p>
            <a:r>
              <a:rPr lang="en-US" dirty="0"/>
              <a:t>- Realistic test data with edge cases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683143"/>
            <a:ext cx="5194769" cy="4177907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                  </a:t>
            </a:r>
            <a:r>
              <a:rPr lang="en-US" b="1" dirty="0" smtClean="0">
                <a:solidFill>
                  <a:srgbClr val="FF0000"/>
                </a:solidFill>
              </a:rPr>
              <a:t>Key </a:t>
            </a:r>
            <a:r>
              <a:rPr lang="en-US" b="1" dirty="0">
                <a:solidFill>
                  <a:srgbClr val="FF0000"/>
                </a:solidFill>
              </a:rPr>
              <a:t>Components:</a:t>
            </a:r>
          </a:p>
          <a:p>
            <a:r>
              <a:rPr lang="en-US" dirty="0"/>
              <a:t>- 9 Tables with constraints</a:t>
            </a:r>
          </a:p>
          <a:p>
            <a:r>
              <a:rPr lang="en-US" dirty="0"/>
              <a:t>- 7 Sequences for ID generation</a:t>
            </a:r>
          </a:p>
          <a:p>
            <a:r>
              <a:rPr lang="en-US" dirty="0"/>
              <a:t>- 3 PL/SQL Packages:</a:t>
            </a:r>
          </a:p>
          <a:p>
            <a:r>
              <a:rPr lang="en-US" dirty="0"/>
              <a:t>  * patient_mgmt_pkg</a:t>
            </a:r>
          </a:p>
          <a:p>
            <a:r>
              <a:rPr lang="en-US" dirty="0"/>
              <a:t>  * appointment_ops_pkg</a:t>
            </a:r>
          </a:p>
          <a:p>
            <a:r>
              <a:rPr lang="en-US" dirty="0"/>
              <a:t>  * audit_pkg</a:t>
            </a:r>
          </a:p>
          <a:p>
            <a:r>
              <a:rPr lang="en-US" dirty="0"/>
              <a:t>- 3 Triggers for business rules</a:t>
            </a:r>
          </a:p>
          <a:p>
            <a:r>
              <a:rPr lang="en-US" dirty="0"/>
              <a:t>- Compound trigger for comprehensive auditing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xmlns="" id="{FF0FD1A0-C075-EE18-B3AE-363C242D0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66" y="690880"/>
            <a:ext cx="11182474" cy="547201"/>
          </a:xfrm>
        </p:spPr>
        <p:txBody>
          <a:bodyPr/>
          <a:lstStyle/>
          <a:p>
            <a:r>
              <a:rPr lang="en-US" dirty="0" smtClean="0"/>
              <a:t>                                 </a:t>
            </a:r>
            <a:r>
              <a:rPr lang="en-US" b="1" dirty="0" smtClean="0">
                <a:solidFill>
                  <a:srgbClr val="00B050"/>
                </a:solidFill>
              </a:rPr>
              <a:t>ADVANCED </a:t>
            </a:r>
            <a:r>
              <a:rPr lang="en-US" b="1" dirty="0">
                <a:solidFill>
                  <a:srgbClr val="00B050"/>
                </a:solidFill>
              </a:rPr>
              <a:t>FEATURES</a:t>
            </a:r>
            <a:endParaRPr lang="en-US" b="1" dirty="0">
              <a:solidFill>
                <a:srgbClr val="00B050"/>
              </a:solidFill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sz="half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213" y="1391829"/>
            <a:ext cx="5539894" cy="4329239"/>
          </a:xfrm>
        </p:spPr>
      </p:pic>
      <p:sp>
        <p:nvSpPr>
          <p:cNvPr id="20" name="Content Placeholder 3">
            <a:extLst>
              <a:ext uri="{FF2B5EF4-FFF2-40B4-BE49-F238E27FC236}">
                <a16:creationId xmlns:a16="http://schemas.microsoft.com/office/drawing/2014/main" xmlns="" id="{7C987B03-58AE-7E8A-A1C7-83569FBBC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36658" y="1432290"/>
            <a:ext cx="5687982" cy="4388119"/>
          </a:xfrm>
          <a:noFill/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Business Rule Implementation:</a:t>
            </a:r>
          </a:p>
          <a:p>
            <a:r>
              <a:rPr lang="en-US" dirty="0">
                <a:solidFill>
                  <a:srgbClr val="002060"/>
                </a:solidFill>
              </a:rPr>
              <a:t>- RESTRICTION: </a:t>
            </a:r>
            <a:r>
              <a:rPr lang="en-US" dirty="0"/>
              <a:t>Data modification blocked on:</a:t>
            </a:r>
          </a:p>
          <a:p>
            <a:r>
              <a:rPr lang="en-US" dirty="0"/>
              <a:t>  * Weekdays (Monday-Friday)</a:t>
            </a:r>
          </a:p>
          <a:p>
            <a:r>
              <a:rPr lang="en-US" dirty="0"/>
              <a:t>  * Public holidays</a:t>
            </a:r>
          </a:p>
          <a:p>
            <a:r>
              <a:rPr lang="en-US" dirty="0">
                <a:solidFill>
                  <a:srgbClr val="002060"/>
                </a:solidFill>
              </a:rPr>
              <a:t>- OVERRIDE: </a:t>
            </a:r>
            <a:r>
              <a:rPr lang="en-US" dirty="0"/>
              <a:t>Admin can bypass for maintenance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Audit System:</a:t>
            </a:r>
          </a:p>
          <a:p>
            <a:r>
              <a:rPr lang="en-US" dirty="0"/>
              <a:t>- Automatic logging of all attempts</a:t>
            </a:r>
          </a:p>
          <a:p>
            <a:r>
              <a:rPr lang="en-US" dirty="0"/>
              <a:t>- Detailed violation records</a:t>
            </a:r>
          </a:p>
          <a:p>
            <a:r>
              <a:rPr lang="en-US" dirty="0"/>
              <a:t>- User identification and timestamps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Security Features:</a:t>
            </a:r>
          </a:p>
          <a:p>
            <a:r>
              <a:rPr lang="en-US" dirty="0"/>
              <a:t>- Role-based access control</a:t>
            </a:r>
          </a:p>
          <a:p>
            <a:r>
              <a:rPr lang="en-US" dirty="0"/>
              <a:t>- Weekend-only data modification</a:t>
            </a:r>
          </a:p>
          <a:p>
            <a:r>
              <a:rPr lang="en-US" dirty="0"/>
              <a:t>- Comprehensive audit trail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xmlns="" id="{EBA544F6-BF8C-2C87-3906-146BEDB4C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246" y="690880"/>
            <a:ext cx="11263394" cy="41772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                         </a:t>
            </a:r>
            <a:r>
              <a:rPr lang="en-US" b="1" dirty="0" smtClean="0">
                <a:solidFill>
                  <a:srgbClr val="00B050"/>
                </a:solidFill>
              </a:rPr>
              <a:t>BUSINESS </a:t>
            </a:r>
            <a:r>
              <a:rPr lang="en-US" b="1" dirty="0">
                <a:solidFill>
                  <a:srgbClr val="00B050"/>
                </a:solidFill>
              </a:rPr>
              <a:t>INTELLIGENCE &amp; ANALYTICS</a:t>
            </a:r>
            <a:endParaRPr lang="en-US" b="1" dirty="0">
              <a:solidFill>
                <a:srgbClr val="00B050"/>
              </a:solidFill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sz="half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278541"/>
            <a:ext cx="5329238" cy="4499172"/>
          </a:xfr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CFBB810-3430-2C29-1AA0-9744AA0A1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58634" y="1197621"/>
            <a:ext cx="5866006" cy="4622788"/>
          </a:xfrm>
          <a:noFill/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KPIs Defined:</a:t>
            </a:r>
          </a:p>
          <a:p>
            <a:r>
              <a:rPr lang="en-US" dirty="0"/>
              <a:t>- Patient throughput rates</a:t>
            </a:r>
          </a:p>
          <a:p>
            <a:r>
              <a:rPr lang="en-US" dirty="0"/>
              <a:t>- Doctor utilization metrics</a:t>
            </a:r>
          </a:p>
          <a:p>
            <a:r>
              <a:rPr lang="en-US" dirty="0"/>
              <a:t>- Appointment fulfillment ratios</a:t>
            </a:r>
          </a:p>
          <a:p>
            <a:r>
              <a:rPr lang="en-US" dirty="0"/>
              <a:t>- Audit violation trends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Analytical Queries:</a:t>
            </a:r>
          </a:p>
          <a:p>
            <a:r>
              <a:rPr lang="en-US" dirty="0"/>
              <a:t>- ROW_NUMBER() for ranking patients</a:t>
            </a:r>
          </a:p>
          <a:p>
            <a:r>
              <a:rPr lang="en-US" dirty="0"/>
              <a:t>- RANK()/DENSE_RANK() for doctor performance</a:t>
            </a:r>
          </a:p>
          <a:p>
            <a:r>
              <a:rPr lang="en-US" dirty="0"/>
              <a:t>- LAG()/LEAD() for trend analysis</a:t>
            </a:r>
          </a:p>
          <a:p>
            <a:r>
              <a:rPr lang="en-US" dirty="0"/>
              <a:t>- Partitioned aggregations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Dashboard Types:</a:t>
            </a:r>
          </a:p>
          <a:p>
            <a:r>
              <a:rPr lang="en-US" dirty="0">
                <a:solidFill>
                  <a:srgbClr val="002060"/>
                </a:solidFill>
              </a:rPr>
              <a:t>1. Executive Summary: </a:t>
            </a:r>
            <a:r>
              <a:rPr lang="en-US" dirty="0"/>
              <a:t>Key metrics overview</a:t>
            </a:r>
          </a:p>
          <a:p>
            <a:r>
              <a:rPr lang="en-US" dirty="0">
                <a:solidFill>
                  <a:srgbClr val="002060"/>
                </a:solidFill>
              </a:rPr>
              <a:t>2. Audit Dashboard: </a:t>
            </a:r>
            <a:r>
              <a:rPr lang="en-US" dirty="0"/>
              <a:t>Security violations tracking</a:t>
            </a:r>
          </a:p>
          <a:p>
            <a:r>
              <a:rPr lang="en-US" dirty="0">
                <a:solidFill>
                  <a:srgbClr val="002060"/>
                </a:solidFill>
              </a:rPr>
              <a:t>3. Performance Dashboard: </a:t>
            </a:r>
            <a:r>
              <a:rPr lang="en-US" dirty="0"/>
              <a:t>Resource utilization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905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xmlns="" id="{D715DBBC-70C2-E94B-9B03-12910F0B5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191" y="729658"/>
            <a:ext cx="10890618" cy="36276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                                   RESULTS </a:t>
            </a:r>
            <a:r>
              <a:rPr lang="en-US" b="1" dirty="0">
                <a:solidFill>
                  <a:srgbClr val="00B050"/>
                </a:solidFill>
              </a:rPr>
              <a:t>&amp; TESTING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598811" y="1343278"/>
            <a:ext cx="5177149" cy="1966364"/>
          </a:xfrm>
        </p:spPr>
        <p:txBody>
          <a:bodyPr/>
          <a:lstStyle/>
          <a:p>
            <a:r>
              <a:rPr lang="en-US" sz="1400" b="1" dirty="0">
                <a:solidFill>
                  <a:srgbClr val="FF0000"/>
                </a:solidFill>
              </a:rPr>
              <a:t>Database Objects:</a:t>
            </a:r>
          </a:p>
          <a:p>
            <a:r>
              <a:rPr lang="en-US" sz="1400" dirty="0"/>
              <a:t>- 9 Tables created successfully</a:t>
            </a:r>
          </a:p>
          <a:p>
            <a:r>
              <a:rPr lang="en-US" sz="1400" dirty="0"/>
              <a:t>- 7 Sequences implemented</a:t>
            </a:r>
          </a:p>
          <a:p>
            <a:r>
              <a:rPr lang="en-US" sz="1400" dirty="0"/>
              <a:t>- 3 Packages with procedures/functions</a:t>
            </a:r>
          </a:p>
          <a:p>
            <a:r>
              <a:rPr lang="en-US" sz="1400" dirty="0"/>
              <a:t>- 3 Triggers deployed</a:t>
            </a:r>
          </a:p>
          <a:p>
            <a:r>
              <a:rPr lang="en-US" sz="1400" dirty="0"/>
              <a:t>- Indexes for performance</a:t>
            </a:r>
          </a:p>
          <a:p>
            <a:endParaRPr lang="en-US" sz="10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903" y="3491232"/>
            <a:ext cx="5157018" cy="2936261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6368432" y="1319002"/>
            <a:ext cx="5242377" cy="2087745"/>
          </a:xfrm>
        </p:spPr>
        <p:txBody>
          <a:bodyPr/>
          <a:lstStyle/>
          <a:p>
            <a:r>
              <a:rPr lang="en-US" sz="1400" b="1" dirty="0">
                <a:solidFill>
                  <a:srgbClr val="FF0000"/>
                </a:solidFill>
              </a:rPr>
              <a:t>Test Results:</a:t>
            </a:r>
          </a:p>
          <a:p>
            <a:r>
              <a:rPr lang="en-US" sz="1400" dirty="0"/>
              <a:t>- Data loading: 100+ records per table</a:t>
            </a:r>
          </a:p>
          <a:p>
            <a:r>
              <a:rPr lang="en-US" sz="1400" dirty="0"/>
              <a:t>- Trigger testing: Weekday denial/Weekend allowance</a:t>
            </a:r>
          </a:p>
          <a:p>
            <a:r>
              <a:rPr lang="en-US" sz="1400" dirty="0"/>
              <a:t>- Audit logging: All attempts captured</a:t>
            </a:r>
          </a:p>
          <a:p>
            <a:r>
              <a:rPr lang="en-US" sz="1400" dirty="0"/>
              <a:t>- Analytics queries: Window functions working</a:t>
            </a:r>
          </a:p>
          <a:p>
            <a:endParaRPr lang="en-US" sz="10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563" y="3484114"/>
            <a:ext cx="4822708" cy="2935287"/>
          </a:xfrm>
        </p:spPr>
      </p:pic>
    </p:spTree>
    <p:extLst>
      <p:ext uri="{BB962C8B-B14F-4D97-AF65-F5344CB8AC3E}">
        <p14:creationId xmlns:p14="http://schemas.microsoft.com/office/powerpoint/2010/main" val="3854442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>
            <a:extLst>
              <a:ext uri="{FF2B5EF4-FFF2-40B4-BE49-F238E27FC236}">
                <a16:creationId xmlns:a16="http://schemas.microsoft.com/office/drawing/2014/main" xmlns="" id="{6A93E959-E68D-08C8-9C1E-5A318B3EF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74" y="729658"/>
            <a:ext cx="11076735" cy="548884"/>
          </a:xfrm>
        </p:spPr>
        <p:txBody>
          <a:bodyPr/>
          <a:lstStyle/>
          <a:p>
            <a:r>
              <a:rPr lang="en-US" dirty="0" smtClean="0"/>
              <a:t>                                    </a:t>
            </a:r>
            <a:r>
              <a:rPr lang="en-US" b="1" dirty="0" smtClean="0">
                <a:solidFill>
                  <a:srgbClr val="00B050"/>
                </a:solidFill>
              </a:rPr>
              <a:t>CONCLUSION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xmlns="" id="{4C1675C6-9CE1-3D87-365F-B3DB1F59CE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730595" cy="3695367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Achievements:</a:t>
            </a:r>
          </a:p>
          <a:p>
            <a:pPr marL="0" indent="0">
              <a:buNone/>
            </a:pPr>
            <a:r>
              <a:rPr lang="en-US" dirty="0" smtClean="0"/>
              <a:t>✅ </a:t>
            </a:r>
            <a:r>
              <a:rPr lang="en-US" dirty="0"/>
              <a:t>Complete hospital database system</a:t>
            </a:r>
          </a:p>
          <a:p>
            <a:pPr marL="0" indent="0">
              <a:buNone/>
            </a:pPr>
            <a:r>
              <a:rPr lang="en-US" dirty="0" smtClean="0"/>
              <a:t>✅ </a:t>
            </a:r>
            <a:r>
              <a:rPr lang="en-US" dirty="0"/>
              <a:t>Business rule enforcement</a:t>
            </a:r>
          </a:p>
          <a:p>
            <a:pPr marL="0" indent="0">
              <a:buNone/>
            </a:pPr>
            <a:r>
              <a:rPr lang="en-US" dirty="0" smtClean="0"/>
              <a:t>✅ </a:t>
            </a:r>
            <a:r>
              <a:rPr lang="en-US" dirty="0"/>
              <a:t>Comprehensive audit system</a:t>
            </a:r>
          </a:p>
          <a:p>
            <a:pPr marL="0" indent="0">
              <a:buNone/>
            </a:pPr>
            <a:r>
              <a:rPr lang="en-US" dirty="0" smtClean="0"/>
              <a:t>✅ </a:t>
            </a:r>
            <a:r>
              <a:rPr lang="en-US" dirty="0"/>
              <a:t>Advanced analytics </a:t>
            </a:r>
            <a:r>
              <a:rPr lang="en-US" dirty="0" smtClean="0"/>
              <a:t>capabilities</a:t>
            </a:r>
          </a:p>
          <a:p>
            <a:pPr marL="0" indent="0">
              <a:buNone/>
            </a:pPr>
            <a:r>
              <a:rPr lang="en-US" dirty="0" smtClean="0"/>
              <a:t>✅ BI dashboard planning</a:t>
            </a:r>
          </a:p>
          <a:p>
            <a:pPr marL="0" indent="0">
              <a:buNone/>
            </a:pPr>
            <a:r>
              <a:rPr lang="en-US" dirty="0" smtClean="0"/>
              <a:t>                                                                </a:t>
            </a:r>
            <a:br>
              <a:rPr lang="en-US" dirty="0" smtClean="0"/>
            </a:br>
            <a:r>
              <a:rPr lang="en-US" dirty="0" smtClean="0"/>
              <a:t>                                                                </a:t>
            </a:r>
            <a:r>
              <a:rPr lang="en-US" b="1" dirty="0" smtClean="0">
                <a:solidFill>
                  <a:srgbClr val="7030A0"/>
                </a:solidFill>
              </a:rPr>
              <a:t>THANK </a:t>
            </a:r>
            <a:r>
              <a:rPr lang="en-US" b="1" dirty="0">
                <a:solidFill>
                  <a:srgbClr val="7030A0"/>
                </a:solidFill>
              </a:rPr>
              <a:t>YOU</a:t>
            </a:r>
            <a:r>
              <a:rPr lang="en-US" dirty="0" smtClean="0"/>
              <a:t>                     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Lessons Learned</a:t>
            </a:r>
            <a:r>
              <a:rPr lang="en-US" b="1" dirty="0" smtClean="0">
                <a:solidFill>
                  <a:srgbClr val="FF0000"/>
                </a:solidFill>
              </a:rPr>
              <a:t>:</a:t>
            </a:r>
          </a:p>
          <a:p>
            <a:pPr marL="0" indent="0">
              <a:buNone/>
            </a:pPr>
            <a:endParaRPr lang="en-US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/>
              <a:t>- </a:t>
            </a:r>
            <a:r>
              <a:rPr lang="en-US" dirty="0"/>
              <a:t>Importance of constraint validation</a:t>
            </a:r>
          </a:p>
          <a:p>
            <a:pPr marL="0" indent="0">
              <a:buNone/>
            </a:pPr>
            <a:r>
              <a:rPr lang="en-US" dirty="0"/>
              <a:t>- Power of PL/SQL packages</a:t>
            </a:r>
          </a:p>
          <a:p>
            <a:pPr marL="0" indent="0">
              <a:buNone/>
            </a:pPr>
            <a:r>
              <a:rPr lang="en-US" dirty="0"/>
              <a:t>- Value of audit trails</a:t>
            </a:r>
          </a:p>
          <a:p>
            <a:pPr marL="0" indent="0">
              <a:buNone/>
            </a:pPr>
            <a:r>
              <a:rPr lang="en-US" dirty="0"/>
              <a:t>- Need for systematic testing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DividendVT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0437772-7826-4CEE-8E78-517B414A42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C26303C-A89C-422C-9097-BDF7002EFC54}">
  <ds:schemaRefs>
    <ds:schemaRef ds:uri="http://purl.org/dc/elements/1.1/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infopath/2007/PartnerControls"/>
    <ds:schemaRef ds:uri="230e9df3-be65-4c73-a93b-d1236ebd677e"/>
    <ds:schemaRef ds:uri="71af3243-3dd4-4a8d-8c0d-dd76da1f02a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E679C34-122C-4127-90D9-C271AEE94CE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DividendVTI</Template>
  <TotalTime>152</TotalTime>
  <Words>561</Words>
  <Application>Microsoft Office PowerPoint</Application>
  <PresentationFormat>Custom</PresentationFormat>
  <Paragraphs>151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DividendVTI</vt:lpstr>
      <vt:lpstr>                      Title : Hospital Management System                                    Subtitle: PL/SQL Capstone Project                                            Name: Amos Nkurunziza                                                Student ID: 26973                                           Date: December 7, 2025           Institution: Adventist University of Central Africa (AUCA)                Course: Database Development with PL/SQL (INSY 8311)                                     lecturer: MANIRAGUHA Eric </vt:lpstr>
      <vt:lpstr>Problem Statements             </vt:lpstr>
      <vt:lpstr>                              SOLUTION OVERVIEW</vt:lpstr>
      <vt:lpstr>                                     DATABASE DESIGN</vt:lpstr>
      <vt:lpstr>                     BUSINESS PROCESS WORKFLOW</vt:lpstr>
      <vt:lpstr>                             TECHNICAL IMPLEMENTATION</vt:lpstr>
      <vt:lpstr>                                 ADVANCED FEATURES</vt:lpstr>
      <vt:lpstr>                          BUSINESS INTELLIGENCE &amp; ANALYTICS</vt:lpstr>
      <vt:lpstr>                                    RESULTS &amp; TESTING</vt:lpstr>
      <vt:lpstr>                                    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Management System                                    PL/SQL Capstone Project                                  Amos Nkurunziza | ID: 26973                              December 7, 2025 | AUCA- insy 8311                                lecturer: MANIRAGUHA Eric</dc:title>
  <dc:creator>Nkurunziza Amos</dc:creator>
  <cp:lastModifiedBy>HP</cp:lastModifiedBy>
  <cp:revision>14</cp:revision>
  <dcterms:created xsi:type="dcterms:W3CDTF">2025-12-07T10:53:11Z</dcterms:created>
  <dcterms:modified xsi:type="dcterms:W3CDTF">2025-12-07T13:31:09Z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